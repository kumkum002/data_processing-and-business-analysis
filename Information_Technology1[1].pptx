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-720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6940C-75D1-4219-A2CF-5DDCD2F15D33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0023-7AC3-454B-A2DB-48A26FEF1B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26623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6940C-75D1-4219-A2CF-5DDCD2F15D33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0023-7AC3-454B-A2DB-48A26FEF1B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02702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6940C-75D1-4219-A2CF-5DDCD2F15D33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0023-7AC3-454B-A2DB-48A26FEF1B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56878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6940C-75D1-4219-A2CF-5DDCD2F15D33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0023-7AC3-454B-A2DB-48A26FEF1B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33680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6940C-75D1-4219-A2CF-5DDCD2F15D33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0023-7AC3-454B-A2DB-48A26FEF1B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07830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6940C-75D1-4219-A2CF-5DDCD2F15D33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0023-7AC3-454B-A2DB-48A26FEF1B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65561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6940C-75D1-4219-A2CF-5DDCD2F15D33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0023-7AC3-454B-A2DB-48A26FEF1B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7762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6940C-75D1-4219-A2CF-5DDCD2F15D33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0023-7AC3-454B-A2DB-48A26FEF1B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22601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6940C-75D1-4219-A2CF-5DDCD2F15D33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0023-7AC3-454B-A2DB-48A26FEF1B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43295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6940C-75D1-4219-A2CF-5DDCD2F15D33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0023-7AC3-454B-A2DB-48A26FEF1B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26118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6940C-75D1-4219-A2CF-5DDCD2F15D33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0023-7AC3-454B-A2DB-48A26FEF1B03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99757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6940C-75D1-4219-A2CF-5DDCD2F15D33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0023-7AC3-454B-A2DB-48A26FEF1B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173678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6940C-75D1-4219-A2CF-5DDCD2F15D33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0023-7AC3-454B-A2DB-48A26FEF1B03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1599139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6940C-75D1-4219-A2CF-5DDCD2F15D33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0023-7AC3-454B-A2DB-48A26FEF1B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91352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6940C-75D1-4219-A2CF-5DDCD2F15D33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0023-7AC3-454B-A2DB-48A26FEF1B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20569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6940C-75D1-4219-A2CF-5DDCD2F15D33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0023-7AC3-454B-A2DB-48A26FEF1B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91695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6940C-75D1-4219-A2CF-5DDCD2F15D33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0DB0023-7AC3-454B-A2DB-48A26FEF1B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22826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70EDC7-D23D-4075-BCFE-127CDCC0A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8069552" cy="1646302"/>
          </a:xfrm>
        </p:spPr>
        <p:txBody>
          <a:bodyPr/>
          <a:lstStyle/>
          <a:p>
            <a:r>
              <a:rPr lang="en-IN" dirty="0">
                <a:solidFill>
                  <a:srgbClr val="0070C0"/>
                </a:solidFill>
              </a:rPr>
              <a:t>Information</a:t>
            </a: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IN" dirty="0">
                <a:solidFill>
                  <a:srgbClr val="0070C0"/>
                </a:solidFill>
              </a:rPr>
              <a:t>Technology</a:t>
            </a: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605070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ECD2AD-B7A4-EFBF-4389-E5BF501A4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What is Information Technology?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D4CE57-8D68-364B-00E0-6D66FF75C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Information Technology (IT)</a:t>
            </a:r>
            <a:r>
              <a:rPr lang="en-US" sz="2400" dirty="0" smtClean="0"/>
              <a:t> refers to the use of </a:t>
            </a:r>
            <a:r>
              <a:rPr lang="en-US" sz="2400" b="1" dirty="0" smtClean="0"/>
              <a:t>computers, software, networks, and digital systems</a:t>
            </a:r>
            <a:r>
              <a:rPr lang="en-US" sz="2400" dirty="0" smtClean="0"/>
              <a:t> to store, process, secure, and transmit information.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53867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B3D7C6-FEEB-027D-553B-AA834184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IT vs. Computer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D676B7F-5BFB-18D9-EEF4-F6C7035B6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88841"/>
            <a:ext cx="8596668" cy="4352521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Information Technology (IT)</a:t>
            </a:r>
          </a:p>
          <a:p>
            <a:r>
              <a:rPr lang="en-US" sz="2400" dirty="0" smtClean="0"/>
              <a:t>Focuses on </a:t>
            </a:r>
            <a:r>
              <a:rPr lang="en-US" sz="2400" b="1" dirty="0" smtClean="0"/>
              <a:t>using technology</a:t>
            </a:r>
            <a:r>
              <a:rPr lang="en-US" sz="2400" dirty="0" smtClean="0"/>
              <a:t> in real-world environments.</a:t>
            </a:r>
          </a:p>
          <a:p>
            <a:r>
              <a:rPr lang="en-US" sz="2400" dirty="0" smtClean="0"/>
              <a:t>Deals with </a:t>
            </a:r>
            <a:r>
              <a:rPr lang="en-US" sz="2400" b="1" dirty="0" smtClean="0"/>
              <a:t>installing, managing, and supporting</a:t>
            </a:r>
            <a:r>
              <a:rPr lang="en-US" sz="2400" dirty="0" smtClean="0"/>
              <a:t> computer systems, networks, and software.</a:t>
            </a:r>
          </a:p>
          <a:p>
            <a:r>
              <a:rPr lang="en-US" sz="2400" b="1" dirty="0" smtClean="0"/>
              <a:t>Computer Science (CS)</a:t>
            </a:r>
          </a:p>
          <a:p>
            <a:r>
              <a:rPr lang="en-US" sz="2400" dirty="0" smtClean="0"/>
              <a:t>Focuses on </a:t>
            </a:r>
            <a:r>
              <a:rPr lang="en-US" sz="2400" b="1" dirty="0" smtClean="0"/>
              <a:t>creating technology</a:t>
            </a:r>
            <a:r>
              <a:rPr lang="en-US" sz="2400" dirty="0" smtClean="0"/>
              <a:t> through coding and algorithms.</a:t>
            </a:r>
          </a:p>
          <a:p>
            <a:r>
              <a:rPr lang="en-US" sz="2400" dirty="0" smtClean="0"/>
              <a:t>Involves </a:t>
            </a:r>
            <a:r>
              <a:rPr lang="en-US" sz="2400" b="1" dirty="0" smtClean="0"/>
              <a:t>programming, software development, and deep technical concepts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169968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EE801E-165D-5653-0D47-B7B84E6F6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Importance of IT: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0CC6608-2944-D41F-E6DD-C6F4C9BFD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9551"/>
            <a:ext cx="8596668" cy="4501811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smtClean="0"/>
              <a:t>Helps in fast communication.</a:t>
            </a:r>
          </a:p>
          <a:p>
            <a:r>
              <a:rPr lang="en-US" sz="2400" dirty="0" smtClean="0"/>
              <a:t>Makes work easier and faster.</a:t>
            </a:r>
          </a:p>
          <a:p>
            <a:r>
              <a:rPr lang="en-US" sz="2400" dirty="0" smtClean="0"/>
              <a:t>Stores and manages data safely.</a:t>
            </a:r>
          </a:p>
          <a:p>
            <a:r>
              <a:rPr lang="en-US" sz="2400" dirty="0" smtClean="0"/>
              <a:t>Supports online learning and education.</a:t>
            </a:r>
          </a:p>
          <a:p>
            <a:r>
              <a:rPr lang="en-US" sz="2400" dirty="0" smtClean="0"/>
              <a:t>Creates many job opportunities.</a:t>
            </a:r>
          </a:p>
          <a:p>
            <a:r>
              <a:rPr lang="en-US" sz="2400" dirty="0" smtClean="0"/>
              <a:t>Improves business operations.</a:t>
            </a:r>
          </a:p>
          <a:p>
            <a:r>
              <a:rPr lang="en-US" sz="2400" dirty="0" smtClean="0"/>
              <a:t>Enhances healthcare services.</a:t>
            </a:r>
          </a:p>
          <a:p>
            <a:r>
              <a:rPr lang="en-US" sz="2400" dirty="0" smtClean="0"/>
              <a:t>Reduces paperwork through digital services.</a:t>
            </a:r>
          </a:p>
          <a:p>
            <a:r>
              <a:rPr lang="en-US" sz="2400" dirty="0" smtClean="0"/>
              <a:t>Provides quick access to information.</a:t>
            </a:r>
          </a:p>
          <a:p>
            <a:r>
              <a:rPr lang="en-US" sz="2400" dirty="0" smtClean="0"/>
              <a:t>Improves security through </a:t>
            </a:r>
            <a:r>
              <a:rPr lang="en-US" sz="2400" dirty="0" err="1" smtClean="0"/>
              <a:t>cybersecurity</a:t>
            </a:r>
            <a:r>
              <a:rPr lang="en-US" sz="2400" dirty="0" smtClean="0"/>
              <a:t> tools.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9854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3D850E-AA6B-727E-B9DA-29099D2EA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Core Components of IT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E3FF35E-AFAF-F629-81E0-13BECB93A5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9961" y="1749425"/>
            <a:ext cx="10357033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/>
              <a:t>Hardware</a:t>
            </a:r>
            <a:r>
              <a:rPr lang="en-US" sz="2400" dirty="0" smtClean="0"/>
              <a:t> – Physical devices like computers, servers, routers.</a:t>
            </a:r>
          </a:p>
          <a:p>
            <a:r>
              <a:rPr lang="en-US" sz="2400" b="1" dirty="0" smtClean="0"/>
              <a:t>Software</a:t>
            </a:r>
            <a:r>
              <a:rPr lang="en-US" sz="2400" dirty="0" smtClean="0"/>
              <a:t> – Programs and applications used to perform tasks.</a:t>
            </a:r>
          </a:p>
          <a:p>
            <a:r>
              <a:rPr lang="en-US" sz="2400" b="1" dirty="0" smtClean="0"/>
              <a:t>Network</a:t>
            </a:r>
            <a:r>
              <a:rPr lang="en-US" sz="2400" dirty="0" smtClean="0"/>
              <a:t> – Internet, </a:t>
            </a:r>
            <a:r>
              <a:rPr lang="en-US" sz="2400" dirty="0" err="1" smtClean="0"/>
              <a:t>WiFi</a:t>
            </a:r>
            <a:r>
              <a:rPr lang="en-US" sz="2400" dirty="0" smtClean="0"/>
              <a:t>, and systems that connect devices.</a:t>
            </a:r>
          </a:p>
          <a:p>
            <a:r>
              <a:rPr lang="en-US" sz="2400" b="1" dirty="0" smtClean="0"/>
              <a:t>Data</a:t>
            </a:r>
            <a:r>
              <a:rPr lang="en-US" sz="2400" dirty="0" smtClean="0"/>
              <a:t> – Information stored, processed, and used by systems.</a:t>
            </a:r>
          </a:p>
          <a:p>
            <a:r>
              <a:rPr lang="en-US" sz="2400" b="1" dirty="0" smtClean="0"/>
              <a:t>People</a:t>
            </a:r>
            <a:r>
              <a:rPr lang="en-US" sz="2400" dirty="0" smtClean="0"/>
              <a:t> – IT professionals who operate and manage technology.</a:t>
            </a:r>
          </a:p>
          <a:p>
            <a:r>
              <a:rPr lang="en-US" sz="2400" b="1" dirty="0" smtClean="0"/>
              <a:t>Processes</a:t>
            </a:r>
            <a:r>
              <a:rPr lang="en-US" sz="2400" dirty="0" smtClean="0"/>
              <a:t> – Rules and methods for using and managing IT systems.</a:t>
            </a:r>
          </a:p>
          <a:p>
            <a:r>
              <a:rPr lang="en-US" sz="2400" b="1" dirty="0" smtClean="0"/>
              <a:t>Security</a:t>
            </a:r>
            <a:r>
              <a:rPr lang="en-US" sz="2400" dirty="0" smtClean="0"/>
              <a:t> – Protecting systems and data from threats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171019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C70CBD-3CBD-3550-2A7B-2164609B2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Computer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BAE770-FC94-0C45-3BC6-3BD7FE700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Input Devices:</a:t>
            </a:r>
            <a:r>
              <a:rPr lang="en-US" sz="2400" dirty="0" smtClean="0"/>
              <a:t> Keyboard, Mouse, Scanner</a:t>
            </a:r>
          </a:p>
          <a:p>
            <a:r>
              <a:rPr lang="en-US" sz="2400" b="1" dirty="0" smtClean="0"/>
              <a:t>Output Devices:</a:t>
            </a:r>
            <a:r>
              <a:rPr lang="en-US" sz="2400" dirty="0" smtClean="0"/>
              <a:t> Monitor, Printer, Speakers</a:t>
            </a:r>
          </a:p>
          <a:p>
            <a:r>
              <a:rPr lang="en-US" sz="2400" b="1" dirty="0" smtClean="0"/>
              <a:t>Storage Devices:</a:t>
            </a:r>
            <a:r>
              <a:rPr lang="en-US" sz="2400" dirty="0" smtClean="0"/>
              <a:t> Hard Disk (HDD), SSD, Pen Drive</a:t>
            </a:r>
          </a:p>
          <a:p>
            <a:r>
              <a:rPr lang="en-US" sz="2400" b="1" dirty="0" smtClean="0"/>
              <a:t>Internal Components:</a:t>
            </a:r>
            <a:r>
              <a:rPr lang="en-US" sz="2400" dirty="0" smtClean="0"/>
              <a:t> CPU, RAM, Motherboard</a:t>
            </a:r>
          </a:p>
          <a:p>
            <a:r>
              <a:rPr lang="en-US" sz="2400" b="1" dirty="0" smtClean="0"/>
              <a:t>Networking Devices:</a:t>
            </a:r>
            <a:r>
              <a:rPr lang="en-US" sz="2400" dirty="0" smtClean="0"/>
              <a:t> Router, Modem, Network Card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171473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A51946-37BC-5132-5CB3-15ED5E397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Computer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2C4B5D-5034-0696-8672-4220BC009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6795"/>
            <a:ext cx="8596668" cy="3880773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 smtClean="0"/>
              <a:t>System Software:</a:t>
            </a:r>
            <a:endParaRPr lang="en-US" sz="2400" dirty="0" smtClean="0"/>
          </a:p>
          <a:p>
            <a:r>
              <a:rPr lang="en-US" sz="2400" dirty="0" smtClean="0"/>
              <a:t>Helps run the computer and its hardware.</a:t>
            </a:r>
          </a:p>
          <a:p>
            <a:r>
              <a:rPr lang="en-US" sz="2400" dirty="0" smtClean="0"/>
              <a:t>Example: Windows, Linux, </a:t>
            </a:r>
            <a:r>
              <a:rPr lang="en-US" sz="2400" dirty="0" err="1" smtClean="0"/>
              <a:t>macOS</a:t>
            </a:r>
            <a:endParaRPr lang="en-US" sz="2400" dirty="0" smtClean="0"/>
          </a:p>
          <a:p>
            <a:r>
              <a:rPr lang="en-US" sz="2400" b="1" dirty="0" smtClean="0"/>
              <a:t>Application Software:</a:t>
            </a:r>
            <a:endParaRPr lang="en-US" sz="2400" dirty="0" smtClean="0"/>
          </a:p>
          <a:p>
            <a:r>
              <a:rPr lang="en-US" sz="2400" dirty="0" smtClean="0"/>
              <a:t>Helps users perform tasks.</a:t>
            </a:r>
          </a:p>
          <a:p>
            <a:r>
              <a:rPr lang="en-US" sz="2400" dirty="0" smtClean="0"/>
              <a:t>Example: MS Word, Chrome, Photoshop</a:t>
            </a:r>
          </a:p>
          <a:p>
            <a:r>
              <a:rPr lang="en-US" sz="2400" b="1" dirty="0" smtClean="0"/>
              <a:t>Programming Software:</a:t>
            </a:r>
            <a:endParaRPr lang="en-US" sz="2400" dirty="0" smtClean="0"/>
          </a:p>
          <a:p>
            <a:r>
              <a:rPr lang="en-US" sz="2400" dirty="0" smtClean="0"/>
              <a:t>Helps developers create programs.</a:t>
            </a:r>
          </a:p>
          <a:p>
            <a:r>
              <a:rPr lang="en-US" sz="2400" dirty="0" smtClean="0"/>
              <a:t>Example: Python, Java IDE, Visual Studio</a:t>
            </a:r>
          </a:p>
          <a:p>
            <a:pPr marL="0" indent="0">
              <a:buClr>
                <a:schemeClr val="tx1"/>
              </a:buClr>
              <a:buNone/>
              <a:defRPr sz="1800">
                <a:solidFill>
                  <a:srgbClr val="3C3C3C"/>
                </a:solidFill>
              </a:defRPr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865072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F093D4-5A12-E30D-334B-378368BBC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Networking and Internet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6DD5CFD-9301-F2A7-92A0-DF11AFA1B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Networking:</a:t>
            </a:r>
            <a:r>
              <a:rPr lang="en-US" sz="2400" dirty="0" smtClean="0"/>
              <a:t> Connecting computers to share data and resources.</a:t>
            </a:r>
          </a:p>
          <a:p>
            <a:r>
              <a:rPr lang="en-US" sz="2400" b="1" dirty="0" smtClean="0"/>
              <a:t>Types:</a:t>
            </a:r>
            <a:r>
              <a:rPr lang="en-US" sz="2400" dirty="0" smtClean="0"/>
              <a:t> LAN, WAN, MAN, PAN</a:t>
            </a:r>
          </a:p>
          <a:p>
            <a:r>
              <a:rPr lang="en-US" sz="2400" b="1" dirty="0" smtClean="0"/>
              <a:t>Uses:</a:t>
            </a:r>
            <a:r>
              <a:rPr lang="en-US" sz="2400" dirty="0" smtClean="0"/>
              <a:t> File sharing, communication, internet access</a:t>
            </a:r>
          </a:p>
          <a:p>
            <a:r>
              <a:rPr lang="en-US" sz="2400" b="1" dirty="0" smtClean="0"/>
              <a:t>Internet:</a:t>
            </a:r>
            <a:r>
              <a:rPr lang="en-US" sz="2400" dirty="0" smtClean="0"/>
              <a:t> Global network of computers.</a:t>
            </a:r>
          </a:p>
          <a:p>
            <a:r>
              <a:rPr lang="en-US" sz="2400" b="1" dirty="0" smtClean="0"/>
              <a:t>Uses:</a:t>
            </a:r>
            <a:r>
              <a:rPr lang="en-US" sz="2400" dirty="0" smtClean="0"/>
              <a:t> Browsing, email, online learning, social media, online banking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35621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E3D617-AB97-1A8E-2AC5-DB27E28DA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Database Management Systems (DBMS)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F2D4615-3AD2-BECB-7D8F-1A1860C63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95535"/>
            <a:ext cx="8596668" cy="4445827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 </a:t>
            </a:r>
            <a:r>
              <a:rPr lang="en-US" sz="2400" b="1" dirty="0" smtClean="0"/>
              <a:t>DBMS</a:t>
            </a:r>
            <a:r>
              <a:rPr lang="en-US" sz="2400" dirty="0" smtClean="0"/>
              <a:t> is software that </a:t>
            </a:r>
            <a:r>
              <a:rPr lang="en-US" sz="2400" b="1" dirty="0" smtClean="0"/>
              <a:t>stores, manages, and organizes data</a:t>
            </a:r>
            <a:r>
              <a:rPr lang="en-US" sz="2400" dirty="0" smtClean="0"/>
              <a:t> in a database, allowing users to </a:t>
            </a:r>
            <a:r>
              <a:rPr lang="en-US" sz="2400" b="1" dirty="0" smtClean="0"/>
              <a:t>easily access, modify, and manage information</a:t>
            </a:r>
            <a:r>
              <a:rPr lang="en-US" sz="2400" dirty="0" smtClean="0"/>
              <a:t>.</a:t>
            </a:r>
          </a:p>
          <a:p>
            <a:r>
              <a:rPr lang="en-US" sz="2400" b="1" dirty="0" smtClean="0"/>
              <a:t>Key Points</a:t>
            </a:r>
          </a:p>
          <a:p>
            <a:r>
              <a:rPr lang="en-US" sz="2400" b="1" dirty="0" smtClean="0"/>
              <a:t>Stores data</a:t>
            </a:r>
            <a:r>
              <a:rPr lang="en-US" sz="2400" dirty="0" smtClean="0"/>
              <a:t> in an organized way.</a:t>
            </a:r>
          </a:p>
          <a:p>
            <a:r>
              <a:rPr lang="en-US" sz="2400" b="1" dirty="0" smtClean="0"/>
              <a:t>Manages data</a:t>
            </a:r>
            <a:r>
              <a:rPr lang="en-US" sz="2400" dirty="0" smtClean="0"/>
              <a:t> efficiently for multiple users.</a:t>
            </a:r>
          </a:p>
          <a:p>
            <a:r>
              <a:rPr lang="en-US" sz="2400" b="1" dirty="0" smtClean="0"/>
              <a:t>Provides security</a:t>
            </a:r>
            <a:r>
              <a:rPr lang="en-US" sz="2400" dirty="0" smtClean="0"/>
              <a:t> and prevents unauthorized access.</a:t>
            </a:r>
          </a:p>
          <a:p>
            <a:r>
              <a:rPr lang="en-US" sz="2400" b="1" dirty="0" smtClean="0"/>
              <a:t>Allows easy retrieval</a:t>
            </a:r>
            <a:r>
              <a:rPr lang="en-US" sz="2400" dirty="0" smtClean="0"/>
              <a:t> using queries.</a:t>
            </a:r>
          </a:p>
          <a:p>
            <a:r>
              <a:rPr lang="en-US" sz="2400" b="1" dirty="0" smtClean="0"/>
              <a:t>Examples:</a:t>
            </a:r>
            <a:r>
              <a:rPr lang="en-US" sz="2400" dirty="0" smtClean="0"/>
              <a:t> </a:t>
            </a:r>
            <a:r>
              <a:rPr lang="en-US" sz="2400" dirty="0" err="1" smtClean="0"/>
              <a:t>MySQL</a:t>
            </a:r>
            <a:r>
              <a:rPr lang="en-US" sz="2400" dirty="0" smtClean="0"/>
              <a:t>, Oracle, SQL Server, </a:t>
            </a:r>
            <a:r>
              <a:rPr lang="en-US" sz="2400" dirty="0" err="1" smtClean="0"/>
              <a:t>PostgreSQL</a:t>
            </a:r>
            <a:endParaRPr lang="en-US" sz="24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274045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AFEC44-F262-3E02-46BB-42D538BCC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</a:rPr>
              <a:t>Information Security and Cybersecurity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B6A4C6-2638-3C71-2FC2-7183687E3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0181"/>
            <a:ext cx="8596668" cy="4371182"/>
          </a:xfrm>
        </p:spPr>
        <p:txBody>
          <a:bodyPr/>
          <a:lstStyle/>
          <a:p>
            <a:r>
              <a:rPr lang="en-US" sz="2400" b="1" dirty="0" smtClean="0"/>
              <a:t>Information Security:</a:t>
            </a:r>
            <a:r>
              <a:rPr lang="en-US" sz="2400" dirty="0" smtClean="0"/>
              <a:t> Protects </a:t>
            </a:r>
            <a:r>
              <a:rPr lang="en-US" sz="2400" b="1" dirty="0" smtClean="0"/>
              <a:t>data</a:t>
            </a:r>
            <a:r>
              <a:rPr lang="en-US" sz="2400" dirty="0" smtClean="0"/>
              <a:t> from unauthorized access.</a:t>
            </a:r>
          </a:p>
          <a:p>
            <a:r>
              <a:rPr lang="en-US" sz="2400" dirty="0" smtClean="0"/>
              <a:t>Examples: Passwords, encryption, access control</a:t>
            </a:r>
          </a:p>
          <a:p>
            <a:r>
              <a:rPr lang="en-US" sz="2400" b="1" dirty="0" err="1" smtClean="0"/>
              <a:t>Cybersecurity</a:t>
            </a:r>
            <a:r>
              <a:rPr lang="en-US" sz="2400" b="1" dirty="0" smtClean="0"/>
              <a:t>:</a:t>
            </a:r>
            <a:r>
              <a:rPr lang="en-US" sz="2400" dirty="0" smtClean="0"/>
              <a:t> Protects </a:t>
            </a:r>
            <a:r>
              <a:rPr lang="en-US" sz="2400" b="1" dirty="0" smtClean="0"/>
              <a:t>computers, networks, and systems</a:t>
            </a:r>
            <a:r>
              <a:rPr lang="en-US" sz="2400" dirty="0" smtClean="0"/>
              <a:t> from online attacks.</a:t>
            </a:r>
          </a:p>
          <a:p>
            <a:r>
              <a:rPr lang="en-US" sz="2400" dirty="0" smtClean="0"/>
              <a:t>Examples: Antivirus, firewalls, secure networks</a:t>
            </a:r>
          </a:p>
          <a:p>
            <a:r>
              <a:rPr lang="en-US" sz="2400" b="1" dirty="0" smtClean="0"/>
              <a:t>Difference:</a:t>
            </a:r>
            <a:r>
              <a:rPr lang="en-US" sz="2400" dirty="0" smtClean="0"/>
              <a:t> </a:t>
            </a:r>
            <a:r>
              <a:rPr lang="en-US" sz="2400" dirty="0" err="1" smtClean="0"/>
              <a:t>InfoSec</a:t>
            </a:r>
            <a:r>
              <a:rPr lang="en-US" sz="2400" dirty="0" smtClean="0"/>
              <a:t> = data protection; </a:t>
            </a:r>
            <a:r>
              <a:rPr lang="en-US" sz="2400" dirty="0" err="1" smtClean="0"/>
              <a:t>Cybersecurity</a:t>
            </a:r>
            <a:r>
              <a:rPr lang="en-US" sz="2400" dirty="0" smtClean="0"/>
              <a:t> = system/network protection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807291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B20DBC-0300-4CF0-2151-8B08F8FE6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08FDC43-FCB4-4086-3427-35942393D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11" y="1638074"/>
            <a:ext cx="8596668" cy="3880773"/>
          </a:xfrm>
        </p:spPr>
        <p:txBody>
          <a:bodyPr/>
          <a:lstStyle/>
          <a:p>
            <a:r>
              <a:rPr lang="en-US" sz="2400" b="1" dirty="0" smtClean="0"/>
              <a:t>Cloud Computing</a:t>
            </a:r>
            <a:r>
              <a:rPr lang="en-US" sz="2400" dirty="0" smtClean="0"/>
              <a:t> is the delivery of </a:t>
            </a:r>
            <a:r>
              <a:rPr lang="en-US" sz="2400" b="1" dirty="0" smtClean="0"/>
              <a:t>computing services</a:t>
            </a:r>
            <a:r>
              <a:rPr lang="en-US" sz="2400" dirty="0" smtClean="0"/>
              <a:t> like storage, servers, databases, networking, and software </a:t>
            </a:r>
            <a:r>
              <a:rPr lang="en-US" sz="2400" b="1" dirty="0" smtClean="0"/>
              <a:t>over the Internet</a:t>
            </a:r>
            <a:r>
              <a:rPr lang="en-US" sz="2400" dirty="0" smtClean="0"/>
              <a:t> instead of using local computers.</a:t>
            </a:r>
          </a:p>
          <a:p>
            <a:r>
              <a:rPr lang="en-US" sz="2400" b="1" dirty="0" smtClean="0"/>
              <a:t>Key Points</a:t>
            </a:r>
          </a:p>
          <a:p>
            <a:r>
              <a:rPr lang="en-US" sz="2400" b="1" dirty="0" smtClean="0"/>
              <a:t>Access anywhere:</a:t>
            </a:r>
            <a:r>
              <a:rPr lang="en-US" sz="2400" dirty="0" smtClean="0"/>
              <a:t> Use data and apps from any device.</a:t>
            </a:r>
          </a:p>
          <a:p>
            <a:r>
              <a:rPr lang="en-US" sz="2400" b="1" dirty="0" smtClean="0"/>
              <a:t>Cost-effective:</a:t>
            </a:r>
            <a:r>
              <a:rPr lang="en-US" sz="2400" dirty="0" smtClean="0"/>
              <a:t> Pay only for what you use.</a:t>
            </a:r>
          </a:p>
          <a:p>
            <a:r>
              <a:rPr lang="en-US" sz="2400" b="1" dirty="0" smtClean="0"/>
              <a:t>Scalable:</a:t>
            </a:r>
            <a:r>
              <a:rPr lang="en-US" sz="2400" dirty="0" smtClean="0"/>
              <a:t> Easily increase or decrease resources.</a:t>
            </a:r>
          </a:p>
          <a:p>
            <a:r>
              <a:rPr lang="en-US" sz="2400" b="1" dirty="0" smtClean="0"/>
              <a:t>Examples:</a:t>
            </a:r>
            <a:r>
              <a:rPr lang="en-US" sz="2400" dirty="0" smtClean="0"/>
              <a:t> AWS, Google Cloud, Microsoft Azure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622292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867BE7-7E1B-413A-B092-964E63ED6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Emerging IT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082AE7-35F2-087D-EAB0-CBFABA026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 sz="1800">
                <a:solidFill>
                  <a:srgbClr val="3C3C3C"/>
                </a:solidFill>
              </a:defRPr>
            </a:pPr>
            <a:r>
              <a:rPr lang="en-IN" sz="2400" dirty="0">
                <a:solidFill>
                  <a:schemeClr val="tx1"/>
                </a:solidFill>
              </a:rPr>
              <a:t> Artificial Intelligence – Machine learning, automation, NLP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 sz="1800">
                <a:solidFill>
                  <a:srgbClr val="3C3C3C"/>
                </a:solidFill>
              </a:defRPr>
            </a:pPr>
            <a:r>
              <a:rPr lang="en-IN" sz="2400" dirty="0">
                <a:solidFill>
                  <a:schemeClr val="tx1"/>
                </a:solidFill>
              </a:rPr>
              <a:t> Internet of Things (IoT) – Smart devices connected via the Internet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 sz="1800">
                <a:solidFill>
                  <a:srgbClr val="3C3C3C"/>
                </a:solidFill>
              </a:defRPr>
            </a:pPr>
            <a:r>
              <a:rPr lang="en-IN" sz="2400" dirty="0">
                <a:solidFill>
                  <a:schemeClr val="tx1"/>
                </a:solidFill>
              </a:rPr>
              <a:t> Blockchain – Secure, decentralized data ledger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 sz="1800">
                <a:solidFill>
                  <a:srgbClr val="3C3C3C"/>
                </a:solidFill>
              </a:defRPr>
            </a:pPr>
            <a:r>
              <a:rPr lang="en-IN" sz="2400" dirty="0">
                <a:solidFill>
                  <a:schemeClr val="tx1"/>
                </a:solidFill>
              </a:rPr>
              <a:t> Big Data – Analysis of massive datasets for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500726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79BAF0-580C-1AC5-41F1-2A619537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Applications of IT in Business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AAED2D-45AF-0108-393C-BBF160732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697" y="1600752"/>
            <a:ext cx="8596668" cy="388077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2400" dirty="0" smtClean="0"/>
              <a:t>Information Technology helps businesses </a:t>
            </a:r>
            <a:r>
              <a:rPr lang="en-US" sz="2400" b="1" dirty="0" smtClean="0"/>
              <a:t>work efficiently, make decisions, and grow</a:t>
            </a:r>
            <a:r>
              <a:rPr lang="en-US" sz="2400" dirty="0" smtClean="0"/>
              <a:t>.</a:t>
            </a:r>
          </a:p>
          <a:p>
            <a:r>
              <a:rPr lang="en-US" sz="2400" b="1" dirty="0" smtClean="0"/>
              <a:t>Key Applications</a:t>
            </a:r>
          </a:p>
          <a:p>
            <a:r>
              <a:rPr lang="en-US" sz="2400" b="1" dirty="0" smtClean="0"/>
              <a:t>Accounting &amp; Finance:</a:t>
            </a:r>
            <a:r>
              <a:rPr lang="en-US" sz="2400" dirty="0" smtClean="0"/>
              <a:t> Automate billing, payroll, and accounting systems.</a:t>
            </a:r>
          </a:p>
          <a:p>
            <a:r>
              <a:rPr lang="en-US" sz="2400" b="1" dirty="0" smtClean="0"/>
              <a:t>Inventory Management:</a:t>
            </a:r>
            <a:r>
              <a:rPr lang="en-US" sz="2400" dirty="0" smtClean="0"/>
              <a:t> Track stock and supply chains digitally.</a:t>
            </a:r>
          </a:p>
          <a:p>
            <a:r>
              <a:rPr lang="en-US" sz="2400" b="1" dirty="0" smtClean="0"/>
              <a:t>Customer Relationship Management (CRM):</a:t>
            </a:r>
            <a:r>
              <a:rPr lang="en-US" sz="2400" dirty="0" smtClean="0"/>
              <a:t> Manage customer data and improve service.</a:t>
            </a:r>
          </a:p>
          <a:p>
            <a:r>
              <a:rPr lang="en-US" sz="2400" b="1" dirty="0" smtClean="0"/>
              <a:t>E-Commerce:</a:t>
            </a:r>
            <a:r>
              <a:rPr lang="en-US" sz="2400" dirty="0" smtClean="0"/>
              <a:t> Online selling and digital marketing.</a:t>
            </a:r>
          </a:p>
          <a:p>
            <a:r>
              <a:rPr lang="en-US" sz="2400" b="1" dirty="0" smtClean="0"/>
              <a:t>Communication:</a:t>
            </a:r>
            <a:r>
              <a:rPr lang="en-US" sz="2400" dirty="0" smtClean="0"/>
              <a:t> Emails, video conferencing, and instant messaging.</a:t>
            </a:r>
          </a:p>
          <a:p>
            <a:r>
              <a:rPr lang="en-US" sz="2400" b="1" dirty="0" smtClean="0"/>
              <a:t>Data Analysis:</a:t>
            </a:r>
            <a:r>
              <a:rPr lang="en-US" sz="2400" dirty="0" smtClean="0"/>
              <a:t> Use data to make business decisions.</a:t>
            </a:r>
          </a:p>
          <a:p>
            <a:r>
              <a:rPr lang="en-US" sz="2400" b="1" dirty="0" smtClean="0"/>
              <a:t>Human Resource Management (HRM):</a:t>
            </a:r>
            <a:r>
              <a:rPr lang="en-US" sz="2400" dirty="0" smtClean="0"/>
              <a:t> Employee records, recruitment, and training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33893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B390A6-A62E-D30E-AD57-DEE0BEC6F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IT in Education and Society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2ECE0E-A6A0-A4E8-0502-3DFF1F4DA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705" y="1535438"/>
            <a:ext cx="8596668" cy="4510799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 smtClean="0"/>
              <a:t>🎓 IT in Education</a:t>
            </a:r>
          </a:p>
          <a:p>
            <a:r>
              <a:rPr lang="en-US" sz="2400" dirty="0" smtClean="0"/>
              <a:t>Online learning platforms (e.g., </a:t>
            </a:r>
            <a:r>
              <a:rPr lang="en-US" sz="2400" dirty="0" err="1" smtClean="0"/>
              <a:t>Coursera</a:t>
            </a:r>
            <a:r>
              <a:rPr lang="en-US" sz="2400" dirty="0" smtClean="0"/>
              <a:t>, Khan Academy)</a:t>
            </a:r>
          </a:p>
          <a:p>
            <a:r>
              <a:rPr lang="en-US" sz="2400" dirty="0" smtClean="0"/>
              <a:t>Digital classrooms and virtual labs</a:t>
            </a:r>
          </a:p>
          <a:p>
            <a:r>
              <a:rPr lang="en-US" sz="2400" dirty="0" smtClean="0"/>
              <a:t>Access to e-books and educational resources</a:t>
            </a:r>
          </a:p>
          <a:p>
            <a:r>
              <a:rPr lang="en-US" sz="2400" dirty="0" smtClean="0"/>
              <a:t>Interactive learning with quizzes and apps</a:t>
            </a:r>
          </a:p>
          <a:p>
            <a:r>
              <a:rPr lang="en-US" sz="2400" b="1" dirty="0" smtClean="0"/>
              <a:t>🌍 IT in Society</a:t>
            </a:r>
          </a:p>
          <a:p>
            <a:r>
              <a:rPr lang="en-US" sz="2400" dirty="0" smtClean="0"/>
              <a:t>Communication via email, social media, video calls</a:t>
            </a:r>
          </a:p>
          <a:p>
            <a:r>
              <a:rPr lang="en-US" sz="2400" dirty="0" smtClean="0"/>
              <a:t>E-governance and online services</a:t>
            </a:r>
          </a:p>
          <a:p>
            <a:r>
              <a:rPr lang="en-US" sz="2400" dirty="0" smtClean="0"/>
              <a:t>Healthcare: telemedicine, digital records</a:t>
            </a:r>
          </a:p>
          <a:p>
            <a:r>
              <a:rPr lang="en-US" sz="2400" dirty="0" smtClean="0"/>
              <a:t>Online banking and digital payments</a:t>
            </a:r>
          </a:p>
          <a:p>
            <a:r>
              <a:rPr lang="en-US" sz="2400" dirty="0" smtClean="0"/>
              <a:t>Entertainment: streaming, gaming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52200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BF683E-9251-B5A9-81AF-10D27617D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The Role of Information Technology in Modern Business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83C459-1C92-E76C-47A3-86E27CEDA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b="1" dirty="0" smtClean="0"/>
              <a:t>Automation of Processes:</a:t>
            </a:r>
            <a:r>
              <a:rPr lang="en-US" sz="2400" dirty="0" smtClean="0"/>
              <a:t> Reduces manual work, speeds up operations.</a:t>
            </a:r>
          </a:p>
          <a:p>
            <a:r>
              <a:rPr lang="en-US" sz="2400" b="1" dirty="0" smtClean="0"/>
              <a:t>Data Management:</a:t>
            </a:r>
            <a:r>
              <a:rPr lang="en-US" sz="2400" dirty="0" smtClean="0"/>
              <a:t> Stores, organizes, and analyzes business data.</a:t>
            </a:r>
          </a:p>
          <a:p>
            <a:r>
              <a:rPr lang="en-US" sz="2400" b="1" dirty="0" smtClean="0"/>
              <a:t>Enhanced Communication:</a:t>
            </a:r>
            <a:r>
              <a:rPr lang="en-US" sz="2400" dirty="0" smtClean="0"/>
              <a:t> Email, video conferencing, and collaboration tools.</a:t>
            </a:r>
          </a:p>
          <a:p>
            <a:r>
              <a:rPr lang="en-US" sz="2400" b="1" dirty="0" smtClean="0"/>
              <a:t>E-Commerce &amp; Marketing:</a:t>
            </a:r>
            <a:r>
              <a:rPr lang="en-US" sz="2400" dirty="0" smtClean="0"/>
              <a:t> Online sales, digital marketing, and customer engagement.</a:t>
            </a:r>
          </a:p>
          <a:p>
            <a:r>
              <a:rPr lang="en-US" sz="2400" b="1" dirty="0" smtClean="0"/>
              <a:t>Decision Making:</a:t>
            </a:r>
            <a:r>
              <a:rPr lang="en-US" sz="2400" dirty="0" smtClean="0"/>
              <a:t> Data analytics helps in strategic business decisions.</a:t>
            </a:r>
          </a:p>
          <a:p>
            <a:r>
              <a:rPr lang="en-US" sz="2400" b="1" dirty="0" smtClean="0"/>
              <a:t>Security:</a:t>
            </a:r>
            <a:r>
              <a:rPr lang="en-US" sz="2400" dirty="0" smtClean="0"/>
              <a:t> Protects business data from cyber threats.</a:t>
            </a:r>
          </a:p>
          <a:p>
            <a:r>
              <a:rPr lang="en-US" sz="2400" b="1" dirty="0" smtClean="0"/>
              <a:t>Competitive Advantage:</a:t>
            </a:r>
            <a:r>
              <a:rPr lang="en-US" sz="2400" dirty="0" smtClean="0"/>
              <a:t> Technology helps businesses innovate and stay ahead.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291457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D376D1-D7F4-83C3-E02B-9F0D412F7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473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Key roles of IT in modern business: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6F3647-1C15-FD47-0D0D-CA8BF7C92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1819"/>
            <a:ext cx="8596668" cy="4847304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 smtClean="0"/>
              <a:t>Automation:</a:t>
            </a:r>
            <a:r>
              <a:rPr lang="en-US" sz="2400" dirty="0" smtClean="0"/>
              <a:t> Reduces manual work and speeds up processes.</a:t>
            </a:r>
          </a:p>
          <a:p>
            <a:r>
              <a:rPr lang="en-US" sz="2400" b="1" dirty="0" smtClean="0"/>
              <a:t>Data Management:</a:t>
            </a:r>
            <a:r>
              <a:rPr lang="en-US" sz="2400" dirty="0" smtClean="0"/>
              <a:t> Stores, organizes, and analyzes business data.</a:t>
            </a:r>
          </a:p>
          <a:p>
            <a:r>
              <a:rPr lang="en-US" sz="2400" b="1" dirty="0" smtClean="0"/>
              <a:t>Communication:</a:t>
            </a:r>
            <a:r>
              <a:rPr lang="en-US" sz="2400" dirty="0" smtClean="0"/>
              <a:t> Supports email, video calls, and collaboration tools.</a:t>
            </a:r>
          </a:p>
          <a:p>
            <a:r>
              <a:rPr lang="en-US" sz="2400" b="1" dirty="0" smtClean="0"/>
              <a:t>E-Commerce &amp; Marketing:</a:t>
            </a:r>
            <a:r>
              <a:rPr lang="en-US" sz="2400" dirty="0" smtClean="0"/>
              <a:t> Online sales, digital marketing, customer engagement.</a:t>
            </a:r>
          </a:p>
          <a:p>
            <a:r>
              <a:rPr lang="en-US" sz="2400" b="1" dirty="0" smtClean="0"/>
              <a:t>Decision Making:</a:t>
            </a:r>
            <a:r>
              <a:rPr lang="en-US" sz="2400" dirty="0" smtClean="0"/>
              <a:t> Data analytics helps in making strategic decisions.</a:t>
            </a:r>
          </a:p>
          <a:p>
            <a:r>
              <a:rPr lang="en-US" sz="2400" b="1" dirty="0" smtClean="0"/>
              <a:t>Security:</a:t>
            </a:r>
            <a:r>
              <a:rPr lang="en-US" sz="2400" dirty="0" smtClean="0"/>
              <a:t> Protects business data from cyber threats.</a:t>
            </a:r>
          </a:p>
          <a:p>
            <a:r>
              <a:rPr lang="en-US" sz="2400" b="1" dirty="0" smtClean="0"/>
              <a:t>Competitive Advantage:</a:t>
            </a:r>
            <a:r>
              <a:rPr lang="en-US" sz="2400" dirty="0" smtClean="0"/>
              <a:t> Helps businesses innovate and stay ahead.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850370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BDA5CF-F848-016A-F99D-E7DD00224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09601"/>
            <a:ext cx="9469556" cy="5431762"/>
          </a:xfrm>
        </p:spPr>
        <p:txBody>
          <a:bodyPr/>
          <a:lstStyle/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20094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E408E5C-57CA-9DD6-26C3-C42E1A3C6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491613"/>
            <a:ext cx="9341737" cy="5549749"/>
          </a:xfrm>
        </p:spPr>
        <p:txBody>
          <a:bodyPr/>
          <a:lstStyle/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818875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F5CC4E-D784-F1EC-8106-3F415D281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Enterprise Resource Planning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5E1130F-AC1F-51D6-049C-2BDE781F9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ERP</a:t>
            </a:r>
            <a:r>
              <a:rPr lang="en-US" sz="2400" dirty="0" smtClean="0"/>
              <a:t> is software that </a:t>
            </a:r>
            <a:r>
              <a:rPr lang="en-US" sz="2400" b="1" dirty="0" smtClean="0"/>
              <a:t>manages all major business activities</a:t>
            </a:r>
            <a:r>
              <a:rPr lang="en-US" sz="2400" dirty="0" smtClean="0"/>
              <a:t> in one system.</a:t>
            </a:r>
          </a:p>
          <a:p>
            <a:r>
              <a:rPr lang="en-US" sz="2400" dirty="0" smtClean="0"/>
              <a:t>Helps in </a:t>
            </a:r>
            <a:r>
              <a:rPr lang="en-US" sz="2400" b="1" dirty="0" smtClean="0"/>
              <a:t>finance, HR, inventory, sales, and production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Improves </a:t>
            </a:r>
            <a:r>
              <a:rPr lang="en-US" sz="2400" b="1" dirty="0" smtClean="0"/>
              <a:t>efficiency, accuracy, and communication</a:t>
            </a:r>
            <a:r>
              <a:rPr lang="en-US" sz="2400" dirty="0" smtClean="0"/>
              <a:t> across departments.</a:t>
            </a:r>
          </a:p>
          <a:p>
            <a:r>
              <a:rPr lang="en-US" sz="2400" dirty="0" smtClean="0"/>
              <a:t>Examples: </a:t>
            </a:r>
            <a:r>
              <a:rPr lang="en-US" sz="2400" b="1" dirty="0" smtClean="0"/>
              <a:t>SAP, Oracle ERP, Microsoft Dynamics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931892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14E742-3F29-4E04-8B7A-FCA557812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624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Key Features of ERP Systems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93358" y="1563430"/>
            <a:ext cx="8596668" cy="3880773"/>
          </a:xfrm>
        </p:spPr>
        <p:txBody>
          <a:bodyPr/>
          <a:lstStyle/>
          <a:p>
            <a:r>
              <a:rPr lang="en-US" b="1" dirty="0" smtClean="0"/>
              <a:t>Integrated System</a:t>
            </a:r>
            <a:r>
              <a:rPr lang="en-US" dirty="0" smtClean="0"/>
              <a:t> – Connects all business departments.</a:t>
            </a:r>
          </a:p>
          <a:p>
            <a:r>
              <a:rPr lang="en-US" b="1" dirty="0" smtClean="0"/>
              <a:t>Centralized Database</a:t>
            </a:r>
            <a:r>
              <a:rPr lang="en-US" dirty="0" smtClean="0"/>
              <a:t> – Stores all data in one place.</a:t>
            </a:r>
          </a:p>
          <a:p>
            <a:r>
              <a:rPr lang="en-US" b="1" dirty="0" smtClean="0"/>
              <a:t>Real-time Information</a:t>
            </a:r>
            <a:r>
              <a:rPr lang="en-US" dirty="0" smtClean="0"/>
              <a:t> – Provides up-to-date data for decisions.</a:t>
            </a:r>
          </a:p>
          <a:p>
            <a:r>
              <a:rPr lang="en-US" b="1" dirty="0" smtClean="0"/>
              <a:t>Automation</a:t>
            </a:r>
            <a:r>
              <a:rPr lang="en-US" dirty="0" smtClean="0"/>
              <a:t> – Automates business processes and reduces manual work.</a:t>
            </a:r>
          </a:p>
          <a:p>
            <a:r>
              <a:rPr lang="en-US" b="1" dirty="0" smtClean="0"/>
              <a:t>Reporting &amp; Analytics</a:t>
            </a:r>
            <a:r>
              <a:rPr lang="en-US" dirty="0" smtClean="0"/>
              <a:t> – Generates reports for analysis.</a:t>
            </a:r>
          </a:p>
          <a:p>
            <a:r>
              <a:rPr lang="en-US" b="1" dirty="0" smtClean="0"/>
              <a:t>Scalability</a:t>
            </a:r>
            <a:r>
              <a:rPr lang="en-US" dirty="0" smtClean="0"/>
              <a:t> – Can grow as the business grows.</a:t>
            </a:r>
          </a:p>
          <a:p>
            <a:r>
              <a:rPr lang="en-US" b="1" dirty="0" smtClean="0"/>
              <a:t>Improved Workflow</a:t>
            </a:r>
            <a:r>
              <a:rPr lang="en-US" dirty="0" smtClean="0"/>
              <a:t> – Smooth coordination between departments.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81465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53D8C5-D20C-829D-40CC-E02EBAE4B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Core Modules in ERP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9EA5A1AB-87BA-804D-2E0D-2F23164AD6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700264"/>
            <a:ext cx="8338847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/>
              <a:t>Finance &amp; Accounting</a:t>
            </a:r>
            <a:endParaRPr lang="en-US" sz="2400" dirty="0" smtClean="0"/>
          </a:p>
          <a:p>
            <a:r>
              <a:rPr lang="en-US" sz="2400" b="1" dirty="0" smtClean="0"/>
              <a:t>Human Resources (HR)</a:t>
            </a:r>
            <a:endParaRPr lang="en-US" sz="2400" dirty="0" smtClean="0"/>
          </a:p>
          <a:p>
            <a:r>
              <a:rPr lang="en-US" sz="2400" b="1" dirty="0" smtClean="0"/>
              <a:t>Sales &amp; Marketing</a:t>
            </a:r>
            <a:endParaRPr lang="en-US" sz="2400" dirty="0" smtClean="0"/>
          </a:p>
          <a:p>
            <a:r>
              <a:rPr lang="en-US" sz="2400" b="1" dirty="0" smtClean="0"/>
              <a:t>Inventory Management</a:t>
            </a:r>
            <a:endParaRPr lang="en-US" sz="2400" dirty="0" smtClean="0"/>
          </a:p>
          <a:p>
            <a:r>
              <a:rPr lang="en-US" sz="2400" b="1" dirty="0" smtClean="0"/>
              <a:t>Production/Manufacturing</a:t>
            </a:r>
            <a:endParaRPr lang="en-US" sz="2400" dirty="0" smtClean="0"/>
          </a:p>
          <a:p>
            <a:r>
              <a:rPr lang="en-US" sz="2400" b="1" dirty="0" smtClean="0"/>
              <a:t>Supply Chain Management</a:t>
            </a:r>
            <a:endParaRPr lang="en-US" sz="2400" dirty="0" smtClean="0"/>
          </a:p>
          <a:p>
            <a:r>
              <a:rPr lang="en-US" sz="2400" b="1" dirty="0" smtClean="0"/>
              <a:t>Customer Relationship Management (CRM)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399706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CEEB08-E7D0-201B-9E99-7FC016626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Benefits of ERP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12B8B207-BC09-6EDC-8347-2311683F2B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0688" y="1616075"/>
            <a:ext cx="8692808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/>
              <a:t>Improves efficiency</a:t>
            </a:r>
          </a:p>
          <a:p>
            <a:r>
              <a:rPr lang="en-US" sz="2400" dirty="0" smtClean="0"/>
              <a:t>Reduces errors</a:t>
            </a:r>
          </a:p>
          <a:p>
            <a:r>
              <a:rPr lang="en-US" sz="2400" dirty="0" smtClean="0"/>
              <a:t>Enhances decision-making</a:t>
            </a:r>
          </a:p>
          <a:p>
            <a:r>
              <a:rPr lang="en-US" sz="2400" dirty="0" smtClean="0"/>
              <a:t>Saves time &amp; cost</a:t>
            </a:r>
          </a:p>
          <a:p>
            <a:r>
              <a:rPr lang="en-US" sz="2400" dirty="0" smtClean="0"/>
              <a:t>Increases productivity</a:t>
            </a:r>
          </a:p>
          <a:p>
            <a:r>
              <a:rPr lang="en-US" sz="2400" dirty="0" smtClean="0"/>
              <a:t>Real-time data access</a:t>
            </a:r>
          </a:p>
          <a:p>
            <a:r>
              <a:rPr lang="en-US" sz="2400" dirty="0" smtClean="0"/>
              <a:t>Better collaboration between departments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963512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10CF3-94CC-BF36-3869-001FC4946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Popular ERP Software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9080C414-B2CC-B5D0-DC2E-80BA571B57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3979" y="1725467"/>
            <a:ext cx="3185487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/>
              <a:t>SAP</a:t>
            </a:r>
          </a:p>
          <a:p>
            <a:r>
              <a:rPr lang="en-US" sz="2400" dirty="0" smtClean="0"/>
              <a:t>Oracle ERP</a:t>
            </a:r>
          </a:p>
          <a:p>
            <a:r>
              <a:rPr lang="en-US" sz="2400" dirty="0" smtClean="0"/>
              <a:t>Microsoft Dynamics</a:t>
            </a:r>
          </a:p>
          <a:p>
            <a:r>
              <a:rPr lang="en-US" sz="2400" dirty="0" err="1" smtClean="0"/>
              <a:t>Odoo</a:t>
            </a:r>
            <a:endParaRPr lang="en-US" sz="2400" dirty="0" smtClean="0"/>
          </a:p>
          <a:p>
            <a:r>
              <a:rPr lang="en-US" sz="2400" dirty="0" smtClean="0"/>
              <a:t>Tally ERP</a:t>
            </a:r>
          </a:p>
          <a:p>
            <a:r>
              <a:rPr lang="en-US" sz="2400" dirty="0" err="1" smtClean="0"/>
              <a:t>NetSuite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874170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66F51F-DEB3-1AA2-C80F-C9797C172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How Enterprise Resource Planning Platforms Work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CAFC8B-43DF-CA3C-CBDF-FCE0A0575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68976"/>
            <a:ext cx="9636705" cy="3880773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Central database:</a:t>
            </a:r>
            <a:r>
              <a:rPr lang="en-US" sz="2400" dirty="0" smtClean="0"/>
              <a:t> Stores all business data in one place.</a:t>
            </a:r>
          </a:p>
          <a:p>
            <a:r>
              <a:rPr lang="en-US" sz="2400" b="1" dirty="0" smtClean="0"/>
              <a:t>Integrated modules:</a:t>
            </a:r>
            <a:r>
              <a:rPr lang="en-US" sz="2400" dirty="0" smtClean="0"/>
              <a:t> All departments (HR, Finance, Sales, Inventory) connect in one system.</a:t>
            </a:r>
          </a:p>
          <a:p>
            <a:r>
              <a:rPr lang="en-US" sz="2400" b="1" dirty="0" smtClean="0"/>
              <a:t>Real-time updates:</a:t>
            </a:r>
            <a:r>
              <a:rPr lang="en-US" sz="2400" dirty="0" smtClean="0"/>
              <a:t> Data entered in one module updates everywhere instantly.</a:t>
            </a:r>
          </a:p>
          <a:p>
            <a:r>
              <a:rPr lang="en-US" sz="2400" b="1" dirty="0" smtClean="0"/>
              <a:t>Automates processes:</a:t>
            </a:r>
            <a:r>
              <a:rPr lang="en-US" sz="2400" dirty="0" smtClean="0"/>
              <a:t> Reduces manual work and errors.</a:t>
            </a:r>
          </a:p>
          <a:p>
            <a:r>
              <a:rPr lang="en-US" sz="2400" b="1" dirty="0" smtClean="0"/>
              <a:t>Improves decision-making:</a:t>
            </a:r>
            <a:r>
              <a:rPr lang="en-US" sz="2400" dirty="0" smtClean="0"/>
              <a:t> Gives accurate reports and insights.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 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74330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4BE865-A35A-D02E-3D90-B2C12AE04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Centralized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3FF5D4-94DA-B289-159E-489E15696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19814"/>
            <a:ext cx="9479389" cy="4641027"/>
          </a:xfrm>
        </p:spPr>
        <p:txBody>
          <a:bodyPr>
            <a:normAutofit fontScale="85000" lnSpcReduction="20000"/>
          </a:bodyPr>
          <a:lstStyle/>
          <a:p>
            <a:r>
              <a:rPr lang="en-US" sz="2400" b="1" dirty="0" smtClean="0"/>
              <a:t>Enterprise Resource Planning (ERP)</a:t>
            </a:r>
            <a:r>
              <a:rPr lang="en-US" sz="2400" dirty="0" smtClean="0"/>
              <a:t> is a comprehensive software platform that </a:t>
            </a:r>
            <a:r>
              <a:rPr lang="en-US" sz="2400" b="1" dirty="0" smtClean="0"/>
              <a:t>integrates all core business processes</a:t>
            </a:r>
            <a:r>
              <a:rPr lang="en-US" sz="2400" dirty="0" smtClean="0"/>
              <a:t> into a single system. It allows different departments to </a:t>
            </a:r>
            <a:r>
              <a:rPr lang="en-US" sz="2400" b="1" dirty="0" smtClean="0"/>
              <a:t>share information in real-time</a:t>
            </a:r>
            <a:r>
              <a:rPr lang="en-US" sz="2400" dirty="0" smtClean="0"/>
              <a:t> and work more efficiently.</a:t>
            </a:r>
          </a:p>
          <a:p>
            <a:r>
              <a:rPr lang="en-US" sz="2400" b="1" dirty="0" smtClean="0"/>
              <a:t>Key Points:</a:t>
            </a:r>
          </a:p>
          <a:p>
            <a:r>
              <a:rPr lang="en-US" sz="2400" b="1" dirty="0" smtClean="0"/>
              <a:t>Integration of Departments:</a:t>
            </a:r>
            <a:r>
              <a:rPr lang="en-US" sz="2400" dirty="0" smtClean="0"/>
              <a:t> Connects finance, HR, sales, inventory, production, and supply chain.</a:t>
            </a:r>
          </a:p>
          <a:p>
            <a:r>
              <a:rPr lang="en-US" sz="2400" b="1" dirty="0" smtClean="0"/>
              <a:t>Centralized Data:</a:t>
            </a:r>
            <a:r>
              <a:rPr lang="en-US" sz="2400" dirty="0" smtClean="0"/>
              <a:t> All information is stored in one database, reducing duplication and errors.</a:t>
            </a:r>
          </a:p>
          <a:p>
            <a:r>
              <a:rPr lang="en-US" sz="2400" b="1" dirty="0" smtClean="0"/>
              <a:t>Real-Time Updates:</a:t>
            </a:r>
            <a:r>
              <a:rPr lang="en-US" sz="2400" dirty="0" smtClean="0"/>
              <a:t> Any change in one department reflects across all others instantly.</a:t>
            </a:r>
          </a:p>
          <a:p>
            <a:r>
              <a:rPr lang="en-US" sz="2400" b="1" dirty="0" smtClean="0"/>
              <a:t>Automation of Processes:</a:t>
            </a:r>
            <a:r>
              <a:rPr lang="en-US" sz="2400" dirty="0" smtClean="0"/>
              <a:t> Reduces manual work and speeds up operations.</a:t>
            </a:r>
          </a:p>
          <a:p>
            <a:r>
              <a:rPr lang="en-US" sz="2400" b="1" dirty="0" smtClean="0"/>
              <a:t>Better Decision Making:</a:t>
            </a:r>
            <a:r>
              <a:rPr lang="en-US" sz="2400" dirty="0" smtClean="0"/>
              <a:t> Provides accurate reports and analytics for management.</a:t>
            </a:r>
          </a:p>
          <a:p>
            <a:r>
              <a:rPr lang="en-US" sz="2400" b="1" dirty="0" smtClean="0"/>
              <a:t>Scalability:</a:t>
            </a:r>
            <a:r>
              <a:rPr lang="en-US" sz="2400" dirty="0" smtClean="0"/>
              <a:t> Can grow with the business and adapt to new processes.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016633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B376E2-0CD6-6214-7991-4A9D7DD26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Integration of Business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AA58F9F-30EB-B0E7-75AC-3C0B85B57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95" y="1451463"/>
            <a:ext cx="9548214" cy="3880773"/>
          </a:xfrm>
        </p:spPr>
        <p:txBody>
          <a:bodyPr/>
          <a:lstStyle/>
          <a:p>
            <a:pPr>
              <a:buNone/>
            </a:pPr>
            <a:r>
              <a:rPr lang="en-US" sz="2400" dirty="0" smtClean="0"/>
              <a:t>ERP </a:t>
            </a:r>
            <a:r>
              <a:rPr lang="en-US" sz="2400" b="1" dirty="0" smtClean="0"/>
              <a:t>connects all departments</a:t>
            </a:r>
            <a:r>
              <a:rPr lang="en-US" sz="2400" dirty="0" smtClean="0"/>
              <a:t> so data and processes flow seamlessly across the organization.</a:t>
            </a:r>
          </a:p>
          <a:p>
            <a:r>
              <a:rPr lang="en-US" sz="2400" b="1" dirty="0" smtClean="0"/>
              <a:t>Key Points:</a:t>
            </a:r>
            <a:endParaRPr lang="en-US" sz="2400" dirty="0" smtClean="0"/>
          </a:p>
          <a:p>
            <a:r>
              <a:rPr lang="en-US" sz="2400" dirty="0" smtClean="0"/>
              <a:t>Shares data in </a:t>
            </a:r>
            <a:r>
              <a:rPr lang="en-US" sz="2400" b="1" dirty="0" smtClean="0"/>
              <a:t>real-time</a:t>
            </a:r>
            <a:r>
              <a:rPr lang="en-US" sz="2400" dirty="0" smtClean="0"/>
              <a:t> between departments.</a:t>
            </a:r>
          </a:p>
          <a:p>
            <a:r>
              <a:rPr lang="en-US" sz="2400" b="1" dirty="0" smtClean="0"/>
              <a:t>Reduces errors</a:t>
            </a:r>
            <a:r>
              <a:rPr lang="en-US" sz="2400" dirty="0" smtClean="0"/>
              <a:t> and duplication.</a:t>
            </a:r>
          </a:p>
          <a:p>
            <a:r>
              <a:rPr lang="en-US" sz="2400" b="1" dirty="0" smtClean="0"/>
              <a:t>Improves coordination</a:t>
            </a:r>
            <a:r>
              <a:rPr lang="en-US" sz="2400" dirty="0" smtClean="0"/>
              <a:t> and efficiency.</a:t>
            </a:r>
          </a:p>
          <a:p>
            <a:r>
              <a:rPr lang="en-US" sz="2400" b="1" dirty="0" smtClean="0"/>
              <a:t>Automates workflows</a:t>
            </a:r>
            <a:r>
              <a:rPr lang="en-US" sz="2400" dirty="0" smtClean="0"/>
              <a:t> across business functions.</a:t>
            </a:r>
          </a:p>
          <a:p>
            <a:r>
              <a:rPr lang="en-US" sz="2400" dirty="0" smtClean="0"/>
              <a:t>Supports </a:t>
            </a:r>
            <a:r>
              <a:rPr lang="en-US" sz="2400" b="1" dirty="0" smtClean="0"/>
              <a:t>better decision-making</a:t>
            </a:r>
            <a:r>
              <a:rPr lang="en-US" sz="2400" dirty="0" smtClean="0"/>
              <a:t> with accurate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9909880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1BFE5B-04BC-214A-4400-5BDB32DE6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Automation of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AA0CA6F-BDED-C75E-4883-44660754D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992" y="1560821"/>
            <a:ext cx="9902175" cy="3880773"/>
          </a:xfrm>
        </p:spPr>
        <p:txBody>
          <a:bodyPr/>
          <a:lstStyle/>
          <a:p>
            <a:pPr>
              <a:buNone/>
            </a:pPr>
            <a:r>
              <a:rPr lang="en-US" sz="2400" dirty="0" smtClean="0"/>
              <a:t>ERP </a:t>
            </a:r>
            <a:r>
              <a:rPr lang="en-US" sz="2400" b="1" dirty="0" smtClean="0"/>
              <a:t>automates routine business processes</a:t>
            </a:r>
            <a:r>
              <a:rPr lang="en-US" sz="2400" dirty="0" smtClean="0"/>
              <a:t>, reducing manual work and saving time.</a:t>
            </a:r>
          </a:p>
          <a:p>
            <a:r>
              <a:rPr lang="en-US" sz="2400" b="1" dirty="0" smtClean="0"/>
              <a:t>Key Points:</a:t>
            </a:r>
            <a:endParaRPr lang="en-US" sz="2400" dirty="0" smtClean="0"/>
          </a:p>
          <a:p>
            <a:r>
              <a:rPr lang="en-US" sz="2400" dirty="0" smtClean="0"/>
              <a:t>Automatically updates </a:t>
            </a:r>
            <a:r>
              <a:rPr lang="en-US" sz="2400" b="1" dirty="0" smtClean="0"/>
              <a:t>records and reports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Reduces </a:t>
            </a:r>
            <a:r>
              <a:rPr lang="en-US" sz="2400" b="1" dirty="0" smtClean="0"/>
              <a:t>manual errors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Speeds up </a:t>
            </a:r>
            <a:r>
              <a:rPr lang="en-US" sz="2400" b="1" dirty="0" smtClean="0"/>
              <a:t>workflow and approvals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Ensures </a:t>
            </a:r>
            <a:r>
              <a:rPr lang="en-US" sz="2400" b="1" dirty="0" smtClean="0"/>
              <a:t>consistent processes</a:t>
            </a:r>
            <a:r>
              <a:rPr lang="en-US" sz="2400" dirty="0" smtClean="0"/>
              <a:t> across departments.</a:t>
            </a:r>
          </a:p>
          <a:p>
            <a:r>
              <a:rPr lang="en-US" sz="2400" dirty="0" smtClean="0"/>
              <a:t>Frees employees to focus on </a:t>
            </a:r>
            <a:r>
              <a:rPr lang="en-US" sz="2400" b="1" dirty="0" smtClean="0"/>
              <a:t>strategic tasks</a:t>
            </a:r>
            <a:r>
              <a:rPr lang="en-US" sz="2400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558988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1B502D-1556-74A3-664B-0FEFB90D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Real-Time Data and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388082F-7448-FEBF-F03B-C0797E082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358" y="1619413"/>
            <a:ext cx="8596668" cy="388077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 smtClean="0"/>
              <a:t>ERP provides </a:t>
            </a:r>
            <a:r>
              <a:rPr lang="en-US" sz="2400" b="1" dirty="0" smtClean="0"/>
              <a:t>up-to-date information across all departments</a:t>
            </a:r>
            <a:r>
              <a:rPr lang="en-US" sz="2400" dirty="0" smtClean="0"/>
              <a:t>, enabling faster and accurate decision-making.</a:t>
            </a:r>
          </a:p>
          <a:p>
            <a:r>
              <a:rPr lang="en-US" sz="2400" b="1" dirty="0" smtClean="0"/>
              <a:t>Key Points:</a:t>
            </a:r>
            <a:endParaRPr lang="en-US" sz="2400" dirty="0" smtClean="0"/>
          </a:p>
          <a:p>
            <a:r>
              <a:rPr lang="en-US" sz="2400" dirty="0" smtClean="0"/>
              <a:t>Data is updated </a:t>
            </a:r>
            <a:r>
              <a:rPr lang="en-US" sz="2400" b="1" dirty="0" smtClean="0"/>
              <a:t>instantly</a:t>
            </a:r>
            <a:r>
              <a:rPr lang="en-US" sz="2400" dirty="0" smtClean="0"/>
              <a:t> across the system.</a:t>
            </a:r>
          </a:p>
          <a:p>
            <a:r>
              <a:rPr lang="en-US" sz="2400" dirty="0" smtClean="0"/>
              <a:t>Generates </a:t>
            </a:r>
            <a:r>
              <a:rPr lang="en-US" sz="2400" b="1" dirty="0" smtClean="0"/>
              <a:t>accurate and timely reports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Helps in </a:t>
            </a:r>
            <a:r>
              <a:rPr lang="en-US" sz="2400" b="1" dirty="0" smtClean="0"/>
              <a:t>quick decision-making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Improves </a:t>
            </a:r>
            <a:r>
              <a:rPr lang="en-US" sz="2400" b="1" dirty="0" smtClean="0"/>
              <a:t>transparency</a:t>
            </a:r>
            <a:r>
              <a:rPr lang="en-US" sz="2400" dirty="0" smtClean="0"/>
              <a:t> in operations.</a:t>
            </a:r>
          </a:p>
          <a:p>
            <a:r>
              <a:rPr lang="en-US" sz="2400" dirty="0" smtClean="0"/>
              <a:t>Supports </a:t>
            </a:r>
            <a:r>
              <a:rPr lang="en-US" sz="2400" b="1" dirty="0" smtClean="0"/>
              <a:t>performance monitoring</a:t>
            </a:r>
            <a:r>
              <a:rPr lang="en-US" sz="2400" dirty="0" smtClean="0"/>
              <a:t> and analytics.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57168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C510C0-14E5-CA72-8C89-2D180A411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Modular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E94D0B-9545-F96E-442B-8AD19E5D3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737" y="1516777"/>
            <a:ext cx="9715363" cy="388077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 smtClean="0"/>
              <a:t>ERP is made up of </a:t>
            </a:r>
            <a:r>
              <a:rPr lang="en-US" sz="2400" b="1" dirty="0" smtClean="0"/>
              <a:t>different modules</a:t>
            </a:r>
            <a:r>
              <a:rPr lang="en-US" sz="2400" dirty="0" smtClean="0"/>
              <a:t>, each focusing on a specific business function, but all work together in one system.</a:t>
            </a:r>
          </a:p>
          <a:p>
            <a:r>
              <a:rPr lang="en-US" sz="2400" b="1" dirty="0" smtClean="0"/>
              <a:t>Key Points:</a:t>
            </a:r>
            <a:endParaRPr lang="en-US" sz="2400" dirty="0" smtClean="0"/>
          </a:p>
          <a:p>
            <a:r>
              <a:rPr lang="en-US" sz="2400" dirty="0" smtClean="0"/>
              <a:t>Modules include </a:t>
            </a:r>
            <a:r>
              <a:rPr lang="en-US" sz="2400" b="1" dirty="0" smtClean="0"/>
              <a:t>Finance, HR, Sales, Inventory, Production</a:t>
            </a:r>
            <a:r>
              <a:rPr lang="en-US" sz="2400" dirty="0" smtClean="0"/>
              <a:t>, etc.</a:t>
            </a:r>
          </a:p>
          <a:p>
            <a:r>
              <a:rPr lang="en-US" sz="2400" dirty="0" smtClean="0"/>
              <a:t>Each module can </a:t>
            </a:r>
            <a:r>
              <a:rPr lang="en-US" sz="2400" b="1" dirty="0" smtClean="0"/>
              <a:t>function independently</a:t>
            </a:r>
            <a:r>
              <a:rPr lang="en-US" sz="2400" dirty="0" smtClean="0"/>
              <a:t> but shares data with others.</a:t>
            </a:r>
          </a:p>
          <a:p>
            <a:r>
              <a:rPr lang="en-US" sz="2400" dirty="0" smtClean="0"/>
              <a:t>Allows </a:t>
            </a:r>
            <a:r>
              <a:rPr lang="en-US" sz="2400" b="1" dirty="0" smtClean="0"/>
              <a:t>flexible implementation</a:t>
            </a:r>
            <a:r>
              <a:rPr lang="en-US" sz="2400" dirty="0" smtClean="0"/>
              <a:t> based on business needs.</a:t>
            </a:r>
          </a:p>
          <a:p>
            <a:r>
              <a:rPr lang="en-US" sz="2400" dirty="0" smtClean="0"/>
              <a:t>Makes </a:t>
            </a:r>
            <a:r>
              <a:rPr lang="en-US" sz="2400" b="1" dirty="0" smtClean="0"/>
              <a:t>system maintenance and upgrades easier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Supports </a:t>
            </a:r>
            <a:r>
              <a:rPr lang="en-US" sz="2400" b="1" dirty="0" smtClean="0"/>
              <a:t>scalability</a:t>
            </a:r>
            <a:r>
              <a:rPr lang="en-US" sz="2400" dirty="0" smtClean="0"/>
              <a:t> as the business grows.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7799541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DBA8A2-5514-80DF-5A0E-9F56F206D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Cloud and On-Premise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5125EC-8333-73D3-1AE2-8B49C22ED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689" y="1656736"/>
            <a:ext cx="8596668" cy="4118913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 smtClean="0"/>
              <a:t>ERP systems can be deployed either </a:t>
            </a:r>
            <a:r>
              <a:rPr lang="en-US" sz="2400" b="1" dirty="0" smtClean="0"/>
              <a:t>on the company’s own servers (on-premise)</a:t>
            </a:r>
            <a:r>
              <a:rPr lang="en-US" sz="2400" dirty="0" smtClean="0"/>
              <a:t> or </a:t>
            </a:r>
            <a:r>
              <a:rPr lang="en-US" sz="2400" b="1" dirty="0" smtClean="0"/>
              <a:t>via the cloud</a:t>
            </a:r>
            <a:r>
              <a:rPr lang="en-US" sz="2400" dirty="0" smtClean="0"/>
              <a:t>, depending on business needs.</a:t>
            </a:r>
          </a:p>
          <a:p>
            <a:r>
              <a:rPr lang="en-US" sz="2400" b="1" dirty="0" smtClean="0"/>
              <a:t>Key Points:</a:t>
            </a:r>
            <a:endParaRPr lang="en-US" sz="2400" dirty="0" smtClean="0"/>
          </a:p>
          <a:p>
            <a:r>
              <a:rPr lang="en-US" sz="2400" b="1" dirty="0" smtClean="0"/>
              <a:t>On-Premise:</a:t>
            </a:r>
            <a:r>
              <a:rPr lang="en-US" sz="2400" dirty="0" smtClean="0"/>
              <a:t> Installed locally; offers </a:t>
            </a:r>
            <a:r>
              <a:rPr lang="en-US" sz="2400" b="1" dirty="0" smtClean="0"/>
              <a:t>full control</a:t>
            </a:r>
            <a:r>
              <a:rPr lang="en-US" sz="2400" dirty="0" smtClean="0"/>
              <a:t> and customization.</a:t>
            </a:r>
          </a:p>
          <a:p>
            <a:r>
              <a:rPr lang="en-US" sz="2400" b="1" dirty="0" smtClean="0"/>
              <a:t>Cloud:</a:t>
            </a:r>
            <a:r>
              <a:rPr lang="en-US" sz="2400" dirty="0" smtClean="0"/>
              <a:t> Hosted online; accessible </a:t>
            </a:r>
            <a:r>
              <a:rPr lang="en-US" sz="2400" b="1" dirty="0" smtClean="0"/>
              <a:t>anywhere, anytime</a:t>
            </a:r>
            <a:r>
              <a:rPr lang="en-US" sz="2400" dirty="0" smtClean="0"/>
              <a:t> with internet.</a:t>
            </a:r>
          </a:p>
          <a:p>
            <a:r>
              <a:rPr lang="en-US" sz="2400" b="1" dirty="0" smtClean="0"/>
              <a:t>Cost:</a:t>
            </a:r>
            <a:r>
              <a:rPr lang="en-US" sz="2400" dirty="0" smtClean="0"/>
              <a:t> Cloud usually has </a:t>
            </a:r>
            <a:r>
              <a:rPr lang="en-US" sz="2400" b="1" dirty="0" smtClean="0"/>
              <a:t>lower upfront costs</a:t>
            </a:r>
            <a:r>
              <a:rPr lang="en-US" sz="2400" dirty="0" smtClean="0"/>
              <a:t>, on-premise requires </a:t>
            </a:r>
            <a:r>
              <a:rPr lang="en-US" sz="2400" b="1" dirty="0" smtClean="0"/>
              <a:t>higher initial investment</a:t>
            </a:r>
            <a:r>
              <a:rPr lang="en-US" sz="2400" dirty="0" smtClean="0"/>
              <a:t>.</a:t>
            </a:r>
          </a:p>
          <a:p>
            <a:r>
              <a:rPr lang="en-US" sz="2400" b="1" dirty="0" smtClean="0"/>
              <a:t>Maintenance:</a:t>
            </a:r>
            <a:r>
              <a:rPr lang="en-US" sz="2400" dirty="0" smtClean="0"/>
              <a:t> Cloud provider handles updates; on-premise requires </a:t>
            </a:r>
            <a:r>
              <a:rPr lang="en-US" sz="2400" b="1" dirty="0" smtClean="0"/>
              <a:t>internal IT support</a:t>
            </a:r>
            <a:r>
              <a:rPr lang="en-US" sz="2400" dirty="0" smtClean="0"/>
              <a:t>.</a:t>
            </a:r>
          </a:p>
          <a:p>
            <a:r>
              <a:rPr lang="en-US" sz="2400" b="1" dirty="0" smtClean="0"/>
              <a:t>Scalability:</a:t>
            </a:r>
            <a:r>
              <a:rPr lang="en-US" sz="2400" dirty="0" smtClean="0"/>
              <a:t> Cloud is </a:t>
            </a:r>
            <a:r>
              <a:rPr lang="en-US" sz="2400" b="1" dirty="0" smtClean="0"/>
              <a:t>easier to scale</a:t>
            </a:r>
            <a:r>
              <a:rPr lang="en-US" sz="2400" dirty="0" smtClean="0"/>
              <a:t> as business grows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9276040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75127B-F478-F5DE-3A99-90BDF4F36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Security and Access Control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6D4278F0-05B4-161F-AF9D-DD09467AA7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3540" y="1859340"/>
            <a:ext cx="9862847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400" dirty="0" smtClean="0"/>
              <a:t>ERP systems </a:t>
            </a:r>
            <a:r>
              <a:rPr lang="en-US" sz="2400" b="1" dirty="0" smtClean="0"/>
              <a:t>protect sensitive business data</a:t>
            </a:r>
            <a:r>
              <a:rPr lang="en-US" sz="2400" dirty="0" smtClean="0"/>
              <a:t> by controlling who can access what information.</a:t>
            </a:r>
          </a:p>
          <a:p>
            <a:r>
              <a:rPr lang="en-US" sz="2400" b="1" dirty="0" smtClean="0"/>
              <a:t>Key Points:</a:t>
            </a:r>
            <a:endParaRPr lang="en-US" sz="2400" dirty="0" smtClean="0"/>
          </a:p>
          <a:p>
            <a:r>
              <a:rPr lang="en-US" sz="2400" b="1" dirty="0" smtClean="0"/>
              <a:t>User roles and permissions</a:t>
            </a:r>
            <a:r>
              <a:rPr lang="en-US" sz="2400" dirty="0" smtClean="0"/>
              <a:t> restrict access to sensitive data.</a:t>
            </a:r>
          </a:p>
          <a:p>
            <a:r>
              <a:rPr lang="en-US" sz="2400" b="1" dirty="0" smtClean="0"/>
              <a:t>Data encryption</a:t>
            </a:r>
            <a:r>
              <a:rPr lang="en-US" sz="2400" dirty="0" smtClean="0"/>
              <a:t> ensures information is secure.</a:t>
            </a:r>
          </a:p>
          <a:p>
            <a:r>
              <a:rPr lang="en-US" sz="2400" b="1" dirty="0" smtClean="0"/>
              <a:t>Audit trails</a:t>
            </a:r>
            <a:r>
              <a:rPr lang="en-US" sz="2400" dirty="0" smtClean="0"/>
              <a:t> track who accessed or modified data.</a:t>
            </a:r>
          </a:p>
          <a:p>
            <a:r>
              <a:rPr lang="en-US" sz="2400" dirty="0" smtClean="0"/>
              <a:t>Protects against </a:t>
            </a:r>
            <a:r>
              <a:rPr lang="en-US" sz="2400" b="1" dirty="0" smtClean="0"/>
              <a:t>unauthorized access</a:t>
            </a:r>
            <a:r>
              <a:rPr lang="en-US" sz="2400" dirty="0" smtClean="0"/>
              <a:t> and cyber threats.</a:t>
            </a:r>
          </a:p>
          <a:p>
            <a:r>
              <a:rPr lang="en-US" sz="2400" dirty="0" smtClean="0"/>
              <a:t>Supports </a:t>
            </a:r>
            <a:r>
              <a:rPr lang="en-US" sz="2400" b="1" dirty="0" smtClean="0"/>
              <a:t>compliance</a:t>
            </a:r>
            <a:r>
              <a:rPr lang="en-US" sz="2400" dirty="0" smtClean="0"/>
              <a:t> with industry regulations.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6517440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4D8CE8-04F6-6C53-8B25-12117742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Continuous Updates and Scalability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415A1C47-2BA4-7B4D-7965-6CF7B78CE5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0895" y="1229801"/>
            <a:ext cx="9253247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400" dirty="0" smtClean="0"/>
              <a:t>ERP systems are designed to </a:t>
            </a:r>
            <a:r>
              <a:rPr lang="en-US" sz="2400" b="1" dirty="0" smtClean="0"/>
              <a:t>adapt and grow with the business</a:t>
            </a:r>
            <a:r>
              <a:rPr lang="en-US" sz="2400" dirty="0" smtClean="0"/>
              <a:t>, with regular updates to improve functionality.</a:t>
            </a:r>
          </a:p>
          <a:p>
            <a:r>
              <a:rPr lang="en-US" sz="2400" b="1" dirty="0" smtClean="0"/>
              <a:t>Key Points:</a:t>
            </a:r>
            <a:endParaRPr lang="en-US" sz="2400" dirty="0" smtClean="0"/>
          </a:p>
          <a:p>
            <a:r>
              <a:rPr lang="en-US" sz="2400" b="1" dirty="0" smtClean="0"/>
              <a:t>Continuous updates</a:t>
            </a:r>
            <a:r>
              <a:rPr lang="en-US" sz="2400" dirty="0" smtClean="0"/>
              <a:t> keep the system current with latest features and security patches.</a:t>
            </a:r>
          </a:p>
          <a:p>
            <a:r>
              <a:rPr lang="en-US" sz="2400" b="1" dirty="0" smtClean="0"/>
              <a:t>Scalable architecture</a:t>
            </a:r>
            <a:r>
              <a:rPr lang="en-US" sz="2400" dirty="0" smtClean="0"/>
              <a:t> allows adding new users, modules, or processes as the business grows.</a:t>
            </a:r>
          </a:p>
          <a:p>
            <a:r>
              <a:rPr lang="en-US" sz="2400" dirty="0" smtClean="0"/>
              <a:t>Supports </a:t>
            </a:r>
            <a:r>
              <a:rPr lang="en-US" sz="2400" b="1" dirty="0" smtClean="0"/>
              <a:t>changing business needs</a:t>
            </a:r>
            <a:r>
              <a:rPr lang="en-US" sz="2400" dirty="0" smtClean="0"/>
              <a:t> without major system overhauls.</a:t>
            </a:r>
          </a:p>
          <a:p>
            <a:r>
              <a:rPr lang="en-US" sz="2400" dirty="0" smtClean="0"/>
              <a:t>Ensures </a:t>
            </a:r>
            <a:r>
              <a:rPr lang="en-US" sz="2400" b="1" dirty="0" smtClean="0"/>
              <a:t>long-term reliability and efficiency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Helps businesses </a:t>
            </a:r>
            <a:r>
              <a:rPr lang="en-US" sz="2400" b="1" dirty="0" smtClean="0"/>
              <a:t>stay competitive</a:t>
            </a:r>
            <a:r>
              <a:rPr lang="en-US" sz="2400" dirty="0" smtClean="0"/>
              <a:t> by leveraging new technologies.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42230412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1F59B2-A0F1-C38C-BEEB-736649D94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68594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Types of ERP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56036" y="1582091"/>
            <a:ext cx="8596668" cy="4305525"/>
          </a:xfrm>
        </p:spPr>
        <p:txBody>
          <a:bodyPr/>
          <a:lstStyle/>
          <a:p>
            <a:r>
              <a:rPr lang="en-US" dirty="0" smtClean="0"/>
              <a:t>ERP systems can be classified based on </a:t>
            </a:r>
            <a:r>
              <a:rPr lang="en-US" b="1" dirty="0" smtClean="0"/>
              <a:t>deployment method, business size, and functionality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Key Points:</a:t>
            </a:r>
            <a:endParaRPr lang="en-US" dirty="0" smtClean="0"/>
          </a:p>
          <a:p>
            <a:r>
              <a:rPr lang="en-US" b="1" dirty="0" smtClean="0"/>
              <a:t>On-Premise ERP:</a:t>
            </a:r>
            <a:r>
              <a:rPr lang="en-US" dirty="0" smtClean="0"/>
              <a:t> Installed locally on company servers; full control and customization.</a:t>
            </a:r>
          </a:p>
          <a:p>
            <a:r>
              <a:rPr lang="en-US" b="1" dirty="0" smtClean="0"/>
              <a:t>Cloud ERP (</a:t>
            </a:r>
            <a:r>
              <a:rPr lang="en-US" b="1" dirty="0" err="1" smtClean="0"/>
              <a:t>SaaS</a:t>
            </a:r>
            <a:r>
              <a:rPr lang="en-US" b="1" dirty="0" smtClean="0"/>
              <a:t>):</a:t>
            </a:r>
            <a:r>
              <a:rPr lang="en-US" dirty="0" smtClean="0"/>
              <a:t> Hosted online; accessible anywhere with internet; lower upfront cost.</a:t>
            </a:r>
          </a:p>
          <a:p>
            <a:r>
              <a:rPr lang="en-US" b="1" dirty="0" smtClean="0"/>
              <a:t>Hybrid ERP:</a:t>
            </a:r>
            <a:r>
              <a:rPr lang="en-US" dirty="0" smtClean="0"/>
              <a:t> Combines on-premise and cloud features for flexibility.</a:t>
            </a:r>
          </a:p>
          <a:p>
            <a:r>
              <a:rPr lang="en-US" b="1" dirty="0" smtClean="0"/>
              <a:t>Small Business ERP:</a:t>
            </a:r>
            <a:r>
              <a:rPr lang="en-US" dirty="0" smtClean="0"/>
              <a:t> Simplified ERP with core modules for SMEs.</a:t>
            </a:r>
          </a:p>
          <a:p>
            <a:r>
              <a:rPr lang="en-US" b="1" dirty="0" smtClean="0"/>
              <a:t>Industry-Specific ERP:</a:t>
            </a:r>
            <a:r>
              <a:rPr lang="en-US" dirty="0" smtClean="0"/>
              <a:t> Tailored for specific industries like manufacturing, retail, healthcare,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31636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9DA1BB-A253-6D35-969A-888232151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Benefits of ERP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71E01E1-BA64-D402-C53D-8DAD2B85E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521" y="1393673"/>
            <a:ext cx="10226640" cy="4987462"/>
          </a:xfrm>
        </p:spPr>
        <p:txBody>
          <a:bodyPr/>
          <a:lstStyle/>
          <a:p>
            <a:r>
              <a:rPr lang="en-US" b="1" dirty="0" smtClean="0"/>
              <a:t>Centralized </a:t>
            </a:r>
            <a:r>
              <a:rPr lang="en-US" b="1" dirty="0" smtClean="0"/>
              <a:t>Data:</a:t>
            </a:r>
            <a:r>
              <a:rPr lang="en-US" dirty="0" smtClean="0"/>
              <a:t> All departments access the same real-time information.</a:t>
            </a:r>
          </a:p>
          <a:p>
            <a:r>
              <a:rPr lang="en-US" b="1" dirty="0" smtClean="0"/>
              <a:t>Improved Efficiency:</a:t>
            </a:r>
            <a:r>
              <a:rPr lang="en-US" dirty="0" smtClean="0"/>
              <a:t> Automates tasks and reduces manual work.</a:t>
            </a:r>
          </a:p>
          <a:p>
            <a:r>
              <a:rPr lang="en-US" b="1" dirty="0" smtClean="0"/>
              <a:t>Better Decision-Making:</a:t>
            </a:r>
            <a:r>
              <a:rPr lang="en-US" dirty="0" smtClean="0"/>
              <a:t> Provides accurate reports and analytics.</a:t>
            </a:r>
          </a:p>
          <a:p>
            <a:r>
              <a:rPr lang="en-US" b="1" dirty="0" smtClean="0"/>
              <a:t>Cost Savings:</a:t>
            </a:r>
            <a:r>
              <a:rPr lang="en-US" dirty="0" smtClean="0"/>
              <a:t> Reduces operational costs by eliminating redundancies.</a:t>
            </a:r>
          </a:p>
          <a:p>
            <a:r>
              <a:rPr lang="en-US" b="1" dirty="0" smtClean="0"/>
              <a:t>Enhanced Collaboration:</a:t>
            </a:r>
            <a:r>
              <a:rPr lang="en-US" dirty="0" smtClean="0"/>
              <a:t> Departments work together seamlessly.</a:t>
            </a:r>
          </a:p>
          <a:p>
            <a:r>
              <a:rPr lang="en-US" b="1" dirty="0" smtClean="0"/>
              <a:t>Scalability:</a:t>
            </a:r>
            <a:r>
              <a:rPr lang="en-US" dirty="0" smtClean="0"/>
              <a:t> Adapts to business growth and changing needs.</a:t>
            </a:r>
          </a:p>
          <a:p>
            <a:r>
              <a:rPr lang="en-US" b="1" dirty="0" smtClean="0"/>
              <a:t>Compliance &amp; Security:</a:t>
            </a:r>
            <a:r>
              <a:rPr lang="en-US" dirty="0" smtClean="0"/>
              <a:t> Ensures data security and regulatory compliance.</a:t>
            </a:r>
          </a:p>
          <a:p>
            <a:pPr>
              <a:buClr>
                <a:schemeClr val="tx1"/>
              </a:buCl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464695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C24FBC-D27F-B3DB-E4D2-D5BDD9C6D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65BEF6-8928-5458-D8B8-A40A9044D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37187"/>
            <a:ext cx="10069324" cy="4911213"/>
          </a:xfrm>
        </p:spPr>
        <p:txBody>
          <a:bodyPr>
            <a:normAutofit/>
          </a:bodyPr>
          <a:lstStyle/>
          <a:p>
            <a:pPr lvl="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726113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5F725F-4456-3544-DF4C-7568AF55F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7084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ERP vs CRM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5449" y="1470123"/>
            <a:ext cx="8596668" cy="4902684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ERP (Enterprise Resource Planning)</a:t>
            </a:r>
          </a:p>
          <a:p>
            <a:r>
              <a:rPr lang="en-US" b="1" dirty="0" smtClean="0"/>
              <a:t>Focus:</a:t>
            </a:r>
            <a:r>
              <a:rPr lang="en-US" dirty="0" smtClean="0"/>
              <a:t> Internal business processes and operations.</a:t>
            </a:r>
          </a:p>
          <a:p>
            <a:r>
              <a:rPr lang="en-US" b="1" dirty="0" smtClean="0"/>
              <a:t>Purpose:</a:t>
            </a:r>
            <a:r>
              <a:rPr lang="en-US" dirty="0" smtClean="0"/>
              <a:t> Integrates finance, HR, inventory, production, and supply chain.</a:t>
            </a:r>
          </a:p>
          <a:p>
            <a:r>
              <a:rPr lang="en-US" b="1" dirty="0" smtClean="0"/>
              <a:t>Goal:</a:t>
            </a:r>
            <a:r>
              <a:rPr lang="en-US" dirty="0" smtClean="0"/>
              <a:t> Improve efficiency, reduce costs, and manage resources.</a:t>
            </a:r>
          </a:p>
          <a:p>
            <a:r>
              <a:rPr lang="en-US" b="1" dirty="0" smtClean="0"/>
              <a:t>Users:</a:t>
            </a:r>
            <a:r>
              <a:rPr lang="en-US" dirty="0" smtClean="0"/>
              <a:t> Internal teams across departments.</a:t>
            </a:r>
          </a:p>
          <a:p>
            <a:r>
              <a:rPr lang="en-US" b="1" dirty="0" smtClean="0"/>
              <a:t>CRM (Customer Relationship Management)</a:t>
            </a:r>
          </a:p>
          <a:p>
            <a:r>
              <a:rPr lang="en-US" b="1" dirty="0" smtClean="0"/>
              <a:t>Focus:</a:t>
            </a:r>
            <a:r>
              <a:rPr lang="en-US" dirty="0" smtClean="0"/>
              <a:t> Customer interactions and relationships.</a:t>
            </a:r>
          </a:p>
          <a:p>
            <a:r>
              <a:rPr lang="en-US" b="1" dirty="0" smtClean="0"/>
              <a:t>Purpose:</a:t>
            </a:r>
            <a:r>
              <a:rPr lang="en-US" dirty="0" smtClean="0"/>
              <a:t> Manages sales, marketing, and customer service.</a:t>
            </a:r>
          </a:p>
          <a:p>
            <a:r>
              <a:rPr lang="en-US" b="1" dirty="0" smtClean="0"/>
              <a:t>Goal:</a:t>
            </a:r>
            <a:r>
              <a:rPr lang="en-US" dirty="0" smtClean="0"/>
              <a:t> Improve customer satisfaction, sales, and retention.</a:t>
            </a:r>
          </a:p>
          <a:p>
            <a:r>
              <a:rPr lang="en-US" b="1" dirty="0" smtClean="0"/>
              <a:t>Users:</a:t>
            </a:r>
            <a:r>
              <a:rPr lang="en-US" dirty="0" smtClean="0"/>
              <a:t> Sales, marketing, and support teams.</a:t>
            </a:r>
          </a:p>
          <a:p>
            <a:r>
              <a:rPr lang="en-US" b="1" dirty="0" smtClean="0"/>
              <a:t>Key Difference:</a:t>
            </a:r>
            <a:endParaRPr lang="en-US" dirty="0" smtClean="0"/>
          </a:p>
          <a:p>
            <a:r>
              <a:rPr lang="en-US" b="1" dirty="0" smtClean="0"/>
              <a:t>ERP</a:t>
            </a:r>
            <a:r>
              <a:rPr lang="en-US" dirty="0" smtClean="0"/>
              <a:t> manages </a:t>
            </a:r>
            <a:r>
              <a:rPr lang="en-US" b="1" dirty="0" smtClean="0"/>
              <a:t>internal operations</a:t>
            </a:r>
            <a:r>
              <a:rPr lang="en-US" dirty="0" smtClean="0"/>
              <a:t>, while </a:t>
            </a:r>
            <a:r>
              <a:rPr lang="en-US" b="1" dirty="0" smtClean="0"/>
              <a:t>CRM</a:t>
            </a:r>
            <a:r>
              <a:rPr lang="en-US" dirty="0" smtClean="0"/>
              <a:t> manages </a:t>
            </a:r>
            <a:r>
              <a:rPr lang="en-US" b="1" dirty="0" smtClean="0"/>
              <a:t>external customer relationships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743871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94740A-EDF0-1626-4C1D-FA9FBF0BD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691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25408" y="1544768"/>
            <a:ext cx="8596668" cy="3880773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8595208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FF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657</TotalTime>
  <Words>2074</Words>
  <Application>Microsoft Office PowerPoint</Application>
  <PresentationFormat>Custom</PresentationFormat>
  <Paragraphs>252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Facet</vt:lpstr>
      <vt:lpstr>Information Technology </vt:lpstr>
      <vt:lpstr>What is Information Technology?</vt:lpstr>
      <vt:lpstr>IT vs. Computer Science</vt:lpstr>
      <vt:lpstr>Importance of IT:</vt:lpstr>
      <vt:lpstr>Core Components of IT</vt:lpstr>
      <vt:lpstr>Computer Hardware</vt:lpstr>
      <vt:lpstr>Computer Software</vt:lpstr>
      <vt:lpstr>Networking and Internet</vt:lpstr>
      <vt:lpstr>Database Management Systems (DBMS)</vt:lpstr>
      <vt:lpstr>Information Security and Cybersecurity</vt:lpstr>
      <vt:lpstr>Cloud Computing</vt:lpstr>
      <vt:lpstr>Emerging IT Technologies</vt:lpstr>
      <vt:lpstr>Applications of IT in Business</vt:lpstr>
      <vt:lpstr>IT in Education and Society</vt:lpstr>
      <vt:lpstr>The Role of Information Technology in Modern Business </vt:lpstr>
      <vt:lpstr>Key roles of IT in modern business:</vt:lpstr>
      <vt:lpstr>Slide 17</vt:lpstr>
      <vt:lpstr>Slide 18</vt:lpstr>
      <vt:lpstr>Enterprise Resource Planning</vt:lpstr>
      <vt:lpstr>Key Features of ERP Systems</vt:lpstr>
      <vt:lpstr>Core Modules in ERP</vt:lpstr>
      <vt:lpstr>Benefits of ERP</vt:lpstr>
      <vt:lpstr>Popular ERP Software</vt:lpstr>
      <vt:lpstr>How Enterprise Resource Planning Platforms Work</vt:lpstr>
      <vt:lpstr>Centralized Database</vt:lpstr>
      <vt:lpstr>Integration of Business Processes</vt:lpstr>
      <vt:lpstr>Automation of Tasks</vt:lpstr>
      <vt:lpstr>Real-Time Data and Reporting</vt:lpstr>
      <vt:lpstr>Modular Structure</vt:lpstr>
      <vt:lpstr>Cloud and On-Premise Deployment</vt:lpstr>
      <vt:lpstr>Security and Access Control</vt:lpstr>
      <vt:lpstr>Continuous Updates and Scalability</vt:lpstr>
      <vt:lpstr>Types of ERP</vt:lpstr>
      <vt:lpstr>Benefits of ERP</vt:lpstr>
      <vt:lpstr>Slide 35</vt:lpstr>
      <vt:lpstr>ERP vs CRM</vt:lpstr>
      <vt:lpstr>Slide 37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Technology</dc:title>
  <dc:creator>Tandra Paul</dc:creator>
  <cp:lastModifiedBy>kumkum</cp:lastModifiedBy>
  <cp:revision>25</cp:revision>
  <dcterms:created xsi:type="dcterms:W3CDTF">2025-11-12T12:07:16Z</dcterms:created>
  <dcterms:modified xsi:type="dcterms:W3CDTF">2025-11-26T15:58:22Z</dcterms:modified>
</cp:coreProperties>
</file>